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1206500"/>
            <a:ext cx="6096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E58A52"/>
                </a:solidFill>
                <a:latin typeface="Consolas"/>
              </a:rPr>
              <a:t>MASTERCLASS COMPLETA · TI ·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778000"/>
            <a:ext cx="914400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300"/>
              </a:spcAft>
            </a:pPr>
            <a:r>
              <a:rPr sz="7500" b="0">
                <a:solidFill>
                  <a:srgbClr val="F5F3EE"/>
                </a:solidFill>
                <a:latin typeface="Segoe UI Black"/>
              </a:rPr>
              <a:t>Masterclass de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4381500"/>
            <a:ext cx="5715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Do ábaco à computação quântica: história, fundamentos e cada componente do computador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89000" y="5969000"/>
            <a:ext cx="10414000" cy="19050"/>
          </a:xfrm>
          <a:prstGeom prst="rect">
            <a:avLst/>
          </a:prstGeom>
          <a:solidFill>
            <a:srgbClr val="E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6127750"/>
            <a:ext cx="635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28"/>
              </a:spcAft>
            </a:pPr>
            <a:r>
              <a:rPr sz="1200" b="1">
                <a:solidFill>
                  <a:srgbClr val="CFCBC2"/>
                </a:solidFill>
                <a:latin typeface="Consolas"/>
              </a:rPr>
              <a:t>Apostila · HTML interativo · Apresentação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0" y="6127750"/>
            <a:ext cx="304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28"/>
              </a:spcAft>
            </a:pPr>
            <a:r>
              <a:rPr sz="1200" b="1">
                <a:solidFill>
                  <a:srgbClr val="CFCBC2"/>
                </a:solidFill>
                <a:latin typeface="Consolas"/>
              </a:rPr>
              <a:t>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02/49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Nove partes, do porquê ao como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7100" y="2108200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I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Fundamentos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Computar, hardware e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1968500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2108200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II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História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Do ábaco ao ENIAC, Von Neumann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5600" y="1968500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0700" y="2108200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III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Internet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ARPANET, Web e o Brasil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395133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100" y="3534833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IV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Linguagem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Bits, bytes, hertz, ASCII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800" y="3395133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3534833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V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Bancada segura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Elétrica, estática, oxidação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5600" y="3395133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0700" y="3534833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VI–VII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Componentes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Cada peça, ficha completa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821766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100" y="4961466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VIII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Prática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Compatibilidade, montagem, manutenção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800" y="4821766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3900" y="4961466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IX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Fronteira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Quântica e 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5600" y="4821766"/>
            <a:ext cx="3454400" cy="127423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0700" y="4961466"/>
            <a:ext cx="3124200" cy="1020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+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Fechamento</a:t>
            </a:r>
          </a:p>
          <a:p>
            <a:pPr>
              <a:spcAft>
                <a:spcPts val="528"/>
              </a:spcAft>
            </a:pPr>
            <a:r>
              <a:rPr sz="1200" b="0">
                <a:solidFill>
                  <a:srgbClr val="4A4F57"/>
                </a:solidFill>
                <a:latin typeface="Segoe UI"/>
              </a:rPr>
              <a:t>Resumo e versão para crianças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35000"/>
            <a:ext cx="609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600"/>
              </a:spcAft>
            </a:pPr>
            <a:r>
              <a:rPr sz="15000" b="0">
                <a:solidFill>
                  <a:srgbClr val="B4531F"/>
                </a:solidFill>
                <a:latin typeface="Segoe UI Black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223000" cy="1143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2420"/>
              </a:spcAft>
            </a:pPr>
            <a:r>
              <a:rPr sz="5500" b="0">
                <a:solidFill>
                  <a:srgbClr val="F5F3EE"/>
                </a:solidFill>
                <a:latin typeface="Segoe UI Black"/>
              </a:rP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5334000"/>
            <a:ext cx="609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O vocabulário que organiza todo o resto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F5F3EE"/>
                </a:solidFill>
                <a:latin typeface="Consolas"/>
              </a:rPr>
              <a:t>03/49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04/49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Todo computador faz a mesma coisa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O armazenamento (RAM, SSD, HD) guarda dados e resultados em cada etapa. É o ciclo IPO.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222500"/>
            <a:ext cx="35560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01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16181C"/>
                </a:solidFill>
                <a:latin typeface="Segoe UI Black"/>
              </a:rPr>
              <a:t>Entrada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4A4F57"/>
                </a:solidFill>
                <a:latin typeface="Segoe UI"/>
              </a:rPr>
              <a:t>Teclado, mouse, câmera, rede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8000" y="2222500"/>
            <a:ext cx="3556000" cy="2413000"/>
          </a:xfrm>
          <a:prstGeom prst="rect">
            <a:avLst/>
          </a:prstGeom>
          <a:solidFill>
            <a:srgbClr val="16181C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02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F5F3EE"/>
                </a:solidFill>
                <a:latin typeface="Segoe UI Black"/>
              </a:rPr>
              <a:t>Processamento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CFCBC2"/>
                </a:solidFill>
                <a:latin typeface="Segoe UI"/>
              </a:rPr>
              <a:t>CPU e GPU transformam os dados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74000" y="2222500"/>
            <a:ext cx="35560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03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16181C"/>
                </a:solidFill>
                <a:latin typeface="Segoe UI Black"/>
              </a:rPr>
              <a:t>Saída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4A4F57"/>
                </a:solidFill>
                <a:latin typeface="Segoe UI"/>
              </a:rPr>
              <a:t>Monitor, som, impressora, rede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05/49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Hardware ×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Hardware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A parte física, o que se toca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Processador, memória, placa-mãe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Teclado, cabos, fonte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Software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As instruções que dizem o que fazer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Sistema operacional, drivers, apps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Firmware: software gravado no hardware (BIOS/UEFI)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35000"/>
            <a:ext cx="609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600"/>
              </a:spcAft>
            </a:pPr>
            <a:r>
              <a:rPr sz="15000" b="0">
                <a:solidFill>
                  <a:srgbClr val="B4531F"/>
                </a:solidFill>
                <a:latin typeface="Segoe UI Black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223000" cy="1143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2420"/>
              </a:spcAft>
            </a:pPr>
            <a:r>
              <a:rPr sz="5500" b="0">
                <a:solidFill>
                  <a:srgbClr val="F5F3EE"/>
                </a:solidFill>
                <a:latin typeface="Segoe UI Black"/>
              </a:rPr>
              <a:t>História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5334000"/>
            <a:ext cx="609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Contar mais rápido, com menos erro e menos esforço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F5F3EE"/>
                </a:solidFill>
                <a:latin typeface="Consolas"/>
              </a:rPr>
              <a:t>06/49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HISTÓRIA DA COMPUTAÇÃO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07/49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Do ábaco à IA em oito saltos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c. 2700 a.C.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Ábaco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Valor posicional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98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22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1642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Pascalina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Engrenagens que somam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76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1804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Jacquard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Cartões perfurados = programa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8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1843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Ada Lovelace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Primeiro programa publicado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1946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ENIAC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Eletrônico e de propósito geral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98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22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1947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Transistor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O liga/desliga minúsculo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76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1971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Intel 4004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CPU num chip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78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2022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IA generativa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GPUs e Transformers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PIONEIROS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08/49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Nomes que você precisa conhecer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71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1837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Charles Babbage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Máquina Analítica: CPU, memória, E/S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1843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Ada Lovelace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Primeira programadora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56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07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1854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George Boole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Lógica de verdadeiro e falso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1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1936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Alan Turing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A máquina universal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8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1937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Claude Shannon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Boole em circuitos elétricos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56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07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1945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John von Neumann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Programa armazenado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ENIAC · 1946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09/49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O gigante de 27 toneladas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Programado religando cabos, por seis programadoras pioneiras.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968500"/>
            <a:ext cx="2540000" cy="3175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082800"/>
            <a:ext cx="254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64"/>
              </a:spcAft>
            </a:pPr>
            <a:r>
              <a:rPr sz="3100" b="0">
                <a:solidFill>
                  <a:srgbClr val="16181C"/>
                </a:solidFill>
                <a:latin typeface="Segoe UI Black"/>
              </a:rPr>
              <a:t>17.468</a:t>
            </a:r>
          </a:p>
          <a:p>
            <a:pPr>
              <a:spcAft>
                <a:spcPts val="572"/>
              </a:spcAft>
            </a:pPr>
            <a:r>
              <a:rPr sz="1300" b="0">
                <a:solidFill>
                  <a:srgbClr val="4A4F57"/>
                </a:solidFill>
                <a:latin typeface="Segoe UI"/>
              </a:rPr>
              <a:t>válvulas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6000" y="1968500"/>
            <a:ext cx="2540000" cy="3175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6000" y="2082800"/>
            <a:ext cx="254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64"/>
              </a:spcAft>
            </a:pPr>
            <a:r>
              <a:rPr sz="3100" b="0">
                <a:solidFill>
                  <a:srgbClr val="16181C"/>
                </a:solidFill>
                <a:latin typeface="Segoe UI Black"/>
              </a:rPr>
              <a:t>≈ 27 t</a:t>
            </a:r>
          </a:p>
          <a:p>
            <a:pPr>
              <a:spcAft>
                <a:spcPts val="572"/>
              </a:spcAft>
            </a:pPr>
            <a:r>
              <a:rPr sz="1300" b="0">
                <a:solidFill>
                  <a:srgbClr val="4A4F57"/>
                </a:solidFill>
                <a:latin typeface="Segoe UI"/>
              </a:rPr>
              <a:t>de peso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3175000"/>
            <a:ext cx="2540000" cy="3175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3289300"/>
            <a:ext cx="254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64"/>
              </a:spcAft>
            </a:pPr>
            <a:r>
              <a:rPr sz="3100" b="0">
                <a:solidFill>
                  <a:srgbClr val="16181C"/>
                </a:solidFill>
                <a:latin typeface="Segoe UI Black"/>
              </a:rPr>
              <a:t>≈ 167 m²</a:t>
            </a:r>
          </a:p>
          <a:p>
            <a:pPr>
              <a:spcAft>
                <a:spcPts val="572"/>
              </a:spcAft>
            </a:pPr>
            <a:r>
              <a:rPr sz="1300" b="0">
                <a:solidFill>
                  <a:srgbClr val="4A4F57"/>
                </a:solidFill>
                <a:latin typeface="Segoe UI"/>
              </a:rPr>
              <a:t>de área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6000" y="3175000"/>
            <a:ext cx="2540000" cy="3175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6000" y="3289300"/>
            <a:ext cx="254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64"/>
              </a:spcAft>
            </a:pPr>
            <a:r>
              <a:rPr sz="3100" b="0">
                <a:solidFill>
                  <a:srgbClr val="16181C"/>
                </a:solidFill>
                <a:latin typeface="Segoe UI Black"/>
              </a:rPr>
              <a:t>≈ 150 kW</a:t>
            </a:r>
          </a:p>
          <a:p>
            <a:pPr>
              <a:spcAft>
                <a:spcPts val="572"/>
              </a:spcAft>
            </a:pPr>
            <a:r>
              <a:rPr sz="1300" b="0">
                <a:solidFill>
                  <a:srgbClr val="4A4F57"/>
                </a:solidFill>
                <a:latin typeface="Segoe UI"/>
              </a:rPr>
              <a:t>de consumo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4381500"/>
            <a:ext cx="2540000" cy="3175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4495800"/>
            <a:ext cx="254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64"/>
              </a:spcAft>
            </a:pPr>
            <a:r>
              <a:rPr sz="3100" b="0">
                <a:solidFill>
                  <a:srgbClr val="16181C"/>
                </a:solidFill>
                <a:latin typeface="Segoe UI Black"/>
              </a:rPr>
              <a:t>5.000</a:t>
            </a:r>
          </a:p>
          <a:p>
            <a:pPr>
              <a:spcAft>
                <a:spcPts val="572"/>
              </a:spcAft>
            </a:pPr>
            <a:r>
              <a:rPr sz="1300" b="0">
                <a:solidFill>
                  <a:srgbClr val="4A4F57"/>
                </a:solidFill>
                <a:latin typeface="Segoe UI"/>
              </a:rPr>
              <a:t>somas por segundo</a:t>
            </a:r>
          </a:p>
        </p:txBody>
      </p:sp>
      <p:pic>
        <p:nvPicPr>
          <p:cNvPr id="18" name="Picture 17" descr="glen-beck-and-betty-snyder-program-the-eniac-in-building-3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0" y="1968500"/>
            <a:ext cx="4445000" cy="273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85000" y="4762500"/>
            <a:ext cx="444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74"/>
              </a:spcAft>
            </a:pPr>
            <a:r>
              <a:rPr sz="850" b="0">
                <a:solidFill>
                  <a:srgbClr val="8A8F97"/>
                </a:solidFill>
                <a:latin typeface="Segoe UI"/>
              </a:rPr>
              <a:t>Glen Beck e Betty Snyder programando o ENIAC · Domínio público, Wikimedia Commons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O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10/49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Qual foi o primeiro computador?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Resposta de prova: o ENIAC é o primeiro computador eletrônico digital de propósito geral.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1968500"/>
          <a:ext cx="10668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3556000"/>
                <a:gridCol w="3556000"/>
              </a:tblGrid>
              <a:tr h="444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Máquina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Ano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O que foi primeiro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Z3 (Zuse)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Programável e automático funcional (relés)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ABC (Atanasoff-Berry)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1942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Eletrônico digital (não programável)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ENIAC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1945/46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Eletrônico, digital, programável e de propósito geral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Manchester Baby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1948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Programa armazenado na memória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UNIVAC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Comercial de sucesso nos EUA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EVOLUÇÃO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11/49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As gerações do computador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1968500"/>
          <a:ext cx="10668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2667000"/>
                <a:gridCol w="2667000"/>
              </a:tblGrid>
              <a:tr h="444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Geração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Período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Tecnologia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Exemplo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1ª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1946–1958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Válvulas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ENIAC, UNIVAC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2ª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1958–1964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Transistores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IBM 1401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3ª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1964–1971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Circuitos integrados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IBM System/360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4ª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1971–hoje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Microprocessadores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IBM PC, smartphones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5ª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1980s–hoje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Paralelismo e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GPUs, supercomputadores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Fronteira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2019–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Qubits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Google Willow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LEI DE MOORE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12/49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Transistores dobram a cada ≈ 2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Cerca de 26 dobras em pouco mais de 50 anos, como Gordon Moore previu em 1965 e 1975.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730500"/>
            <a:ext cx="2533650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921000"/>
            <a:ext cx="2533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716"/>
              </a:spcAft>
            </a:pPr>
            <a:r>
              <a:rPr sz="3900" b="0">
                <a:solidFill>
                  <a:srgbClr val="16181C"/>
                </a:solidFill>
                <a:latin typeface="Segoe UI Black"/>
              </a:rPr>
              <a:t>2.300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Intel 4004 · 1971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3450" y="2730500"/>
            <a:ext cx="2533650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3450" y="2921000"/>
            <a:ext cx="2533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716"/>
              </a:spcAft>
            </a:pPr>
            <a:r>
              <a:rPr sz="3900" b="0">
                <a:solidFill>
                  <a:srgbClr val="16181C"/>
                </a:solidFill>
                <a:latin typeface="Segoe UI Black"/>
              </a:rPr>
              <a:t>3,1 mi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Pentium · 1993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4900" y="2730500"/>
            <a:ext cx="2533650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4900" y="2921000"/>
            <a:ext cx="2533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716"/>
              </a:spcAft>
            </a:pPr>
            <a:r>
              <a:rPr sz="3900" b="0">
                <a:solidFill>
                  <a:srgbClr val="16181C"/>
                </a:solidFill>
                <a:latin typeface="Segoe UI Black"/>
              </a:rPr>
              <a:t>16 bi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Apple M1 · 2020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350" y="2730500"/>
            <a:ext cx="2533650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6350" y="2921000"/>
            <a:ext cx="2533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716"/>
              </a:spcAft>
            </a:pPr>
            <a:r>
              <a:rPr sz="3900" b="0">
                <a:solidFill>
                  <a:srgbClr val="16181C"/>
                </a:solidFill>
                <a:latin typeface="Segoe UI Black"/>
              </a:rPr>
              <a:t>208 bi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NVIDIA B200 ·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ARQUITETURA DE VON NEUMANN · 1945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13/49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Programa e dados na mesma memória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O gargalo de Von Neumann (a CPU esperando a memória) é o motivo de existir a memória cache L1, L2 e L3.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222500"/>
            <a:ext cx="35560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01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16181C"/>
                </a:solidFill>
                <a:latin typeface="Segoe UI Black"/>
              </a:rPr>
              <a:t>Buscar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4A4F57"/>
                </a:solidFill>
                <a:latin typeface="Segoe UI"/>
              </a:rPr>
              <a:t>A UC lê a instrução no endereço do PC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8000" y="2222500"/>
            <a:ext cx="3556000" cy="2413000"/>
          </a:xfrm>
          <a:prstGeom prst="rect">
            <a:avLst/>
          </a:prstGeom>
          <a:solidFill>
            <a:srgbClr val="16181C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02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F5F3EE"/>
                </a:solidFill>
                <a:latin typeface="Segoe UI Black"/>
              </a:rPr>
              <a:t>Decodificar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CFCBC2"/>
                </a:solidFill>
                <a:latin typeface="Segoe UI"/>
              </a:rPr>
              <a:t>Entende o que a instrução pede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74000" y="2222500"/>
            <a:ext cx="35560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03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16181C"/>
                </a:solidFill>
                <a:latin typeface="Segoe UI Black"/>
              </a:rPr>
              <a:t>Executar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4A4F57"/>
                </a:solidFill>
                <a:latin typeface="Segoe UI"/>
              </a:rPr>
              <a:t>A ULA faz a conta e guarda o resultado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35000"/>
            <a:ext cx="609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600"/>
              </a:spcAft>
            </a:pPr>
            <a:r>
              <a:rPr sz="15000" b="0">
                <a:solidFill>
                  <a:srgbClr val="B4531F"/>
                </a:solidFill>
                <a:latin typeface="Segoe UI Black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223000" cy="1143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2420"/>
              </a:spcAft>
            </a:pPr>
            <a:r>
              <a:rPr sz="5500" b="0">
                <a:solidFill>
                  <a:srgbClr val="F5F3EE"/>
                </a:solidFill>
                <a:latin typeface="Segoe UI Black"/>
              </a:rPr>
              <a:t>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5334000"/>
            <a:ext cx="609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Uma rede de redes, construída em camadas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F5F3EE"/>
                </a:solidFill>
                <a:latin typeface="Consolas"/>
              </a:rPr>
              <a:t>14/49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ATENÇÃO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15/49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Internet ≠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Internet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A infraestrutura: cabos, roteadores e o TCP/IP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ARPANET: 1969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TCP/IP adotado em 1º/01/1983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World Wide Web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Um serviço sobre a internet: páginas e links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Tim Berners-Lee, CERN, 1989–1991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HTML, HTTP e URL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INTERNET NO MUNDO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16/49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Da ARPANET ao 5G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1969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ARPANET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Primeira mensagem: "LO"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98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22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1971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E-mail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Ray Tomlinson e o @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76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1974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TCP/IP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Vint Cerf e Bob Kahn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8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1983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DNS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Nomes em vez de números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1991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Web aberta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info.cern.ch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98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22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1993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Mosaic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Navegador com imagens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76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2007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Smartphone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Internet no bolso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78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2024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Wi-Fi 7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E fibra em casa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INTERNET NO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17/49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Das universidades para todos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1988–89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Bitnet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LNCC (Rio) e Fapesp (SP)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98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22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abr. 1989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Domínio .br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Demi Getschko, Fapesp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76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set. 1989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RNP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Rede acadêmica nacional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968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800" y="1968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início 1991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TCP/IP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O Brasil entra na internet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jun. 1992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Eco-92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A internet aparece ao público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98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22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31/05/1995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CGI.br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Abertura comercial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76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1999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Banda larga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Speedy, Velox, Virtua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3873500"/>
            <a:ext cx="31750" cy="14605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7800" y="3873500"/>
            <a:ext cx="23241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2014</a:t>
            </a:r>
          </a:p>
          <a:p>
            <a:pPr>
              <a:spcAft>
                <a:spcPts val="924"/>
              </a:spcAft>
            </a:pPr>
            <a:r>
              <a:rPr sz="2100" b="0">
                <a:solidFill>
                  <a:srgbClr val="16181C"/>
                </a:solidFill>
                <a:latin typeface="Segoe UI Black"/>
              </a:rPr>
              <a:t>Marco Civil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Lei 12.965/2014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35000"/>
            <a:ext cx="609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600"/>
              </a:spcAft>
            </a:pPr>
            <a:r>
              <a:rPr sz="15000" b="0">
                <a:solidFill>
                  <a:srgbClr val="B4531F"/>
                </a:solidFill>
                <a:latin typeface="Segoe UI Black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223000" cy="1143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2420"/>
              </a:spcAft>
            </a:pPr>
            <a:r>
              <a:rPr sz="5500" b="0">
                <a:solidFill>
                  <a:srgbClr val="F5F3EE"/>
                </a:solidFill>
                <a:latin typeface="Segoe UI Black"/>
              </a:rPr>
              <a:t>A linguagem do computador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5334000"/>
            <a:ext cx="609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Bits, bytes, hertz e caracteres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F5F3EE"/>
                </a:solidFill>
                <a:latin typeface="Consolas"/>
              </a:rPr>
              <a:t>18/49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BIT E 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19/49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Tudo vira zero e 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b minúsculo = bit (velocidade de internet) · B maiúsculo = byte (tamanho de arquivo).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730500"/>
            <a:ext cx="2533650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921000"/>
            <a:ext cx="2533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716"/>
              </a:spcAft>
            </a:pPr>
            <a:r>
              <a:rPr sz="3900" b="0">
                <a:solidFill>
                  <a:srgbClr val="16181C"/>
                </a:solidFill>
                <a:latin typeface="Segoe UI Black"/>
              </a:rPr>
              <a:t>0 ou 1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1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3450" y="2730500"/>
            <a:ext cx="2533650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3450" y="2921000"/>
            <a:ext cx="2533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716"/>
              </a:spcAft>
            </a:pPr>
            <a:r>
              <a:rPr sz="3900" b="0">
                <a:solidFill>
                  <a:srgbClr val="16181C"/>
                </a:solidFill>
                <a:latin typeface="Segoe UI Black"/>
              </a:rPr>
              <a:t>8 bits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1 byte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4900" y="2730500"/>
            <a:ext cx="2533650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4900" y="2921000"/>
            <a:ext cx="2533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716"/>
              </a:spcAft>
            </a:pPr>
            <a:r>
              <a:rPr sz="3900" b="0">
                <a:solidFill>
                  <a:srgbClr val="16181C"/>
                </a:solidFill>
                <a:latin typeface="Segoe UI Black"/>
              </a:rPr>
              <a:t>256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valores em 1 byte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350" y="2730500"/>
            <a:ext cx="2533650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6350" y="2921000"/>
            <a:ext cx="25336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716"/>
              </a:spcAft>
            </a:pPr>
            <a:r>
              <a:rPr sz="3900" b="0">
                <a:solidFill>
                  <a:srgbClr val="16181C"/>
                </a:solidFill>
                <a:latin typeface="Segoe UI Black"/>
              </a:rPr>
              <a:t>01000001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a letra "A"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ARMAZENAMENTO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20/49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KB, MB, GB, TB e o HD que "encolheu"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1.000.000.000.000 bytes ÷ 1.024³ = 931,32 GiB. Não falta nada.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1968500"/>
          <a:ext cx="10668000" cy="222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3556000"/>
                <a:gridCol w="3556000"/>
              </a:tblGrid>
              <a:tr h="444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Vendido como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O Windows mostra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Por quê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256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238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Fabricante: ×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500 GB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465 GB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Windows: × 1.024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1 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931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São os mesmos bytes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2 TB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1,81 TB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Em unidades diferentes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VELOCIDADE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21/49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Mbps ÷ 8 = MB/s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Um jogo de 100 GB numa fibra de 500 Mbps leva cerca de 30 minutos. Para jogar online, o ping importa mais que os megas.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730500"/>
            <a:ext cx="3437466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921000"/>
            <a:ext cx="34374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12"/>
              </a:spcAft>
            </a:pPr>
            <a:r>
              <a:rPr sz="4800" b="0">
                <a:solidFill>
                  <a:srgbClr val="16181C"/>
                </a:solidFill>
                <a:latin typeface="Segoe UI Black"/>
              </a:rPr>
              <a:t>100 Mbps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12,5 MB/s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7266" y="2730500"/>
            <a:ext cx="3437466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7266" y="2921000"/>
            <a:ext cx="34374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12"/>
              </a:spcAft>
            </a:pPr>
            <a:r>
              <a:rPr sz="4800" b="0">
                <a:solidFill>
                  <a:srgbClr val="16181C"/>
                </a:solidFill>
                <a:latin typeface="Segoe UI Black"/>
              </a:rPr>
              <a:t>500 Mbps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62,5 MB/s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2533" y="2730500"/>
            <a:ext cx="3437466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2533" y="2921000"/>
            <a:ext cx="34374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12"/>
              </a:spcAft>
            </a:pPr>
            <a:r>
              <a:rPr sz="4800" b="0">
                <a:solidFill>
                  <a:srgbClr val="16181C"/>
                </a:solidFill>
                <a:latin typeface="Segoe UI Black"/>
              </a:rPr>
              <a:t>1 Gbps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125 MB/s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22/49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Tabela ASCII e UTF-8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ASCII · 1963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7 bits, 128 caracteres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"A" = 65 e "a" = 97 (diferença de 32)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"0" = 48 · espaço =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Unicode e UTF-8 · 1991–92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Todos os idiomas e emojis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ASCII ocupa 1 byte; "ç", 2; emoji, 4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≈ 99% dos sites usam UTF-8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35000"/>
            <a:ext cx="609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600"/>
              </a:spcAft>
            </a:pPr>
            <a:r>
              <a:rPr sz="15000" b="0">
                <a:solidFill>
                  <a:srgbClr val="B4531F"/>
                </a:solidFill>
                <a:latin typeface="Segoe UI Black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223000" cy="1143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2420"/>
              </a:spcAft>
            </a:pPr>
            <a:r>
              <a:rPr sz="5500" b="0">
                <a:solidFill>
                  <a:srgbClr val="F5F3EE"/>
                </a:solidFill>
                <a:latin typeface="Segoe UI Black"/>
              </a:rPr>
              <a:t>Bancada segura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5334000"/>
            <a:ext cx="609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Antes de abrir qualquer gabinete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F5F3EE"/>
                </a:solidFill>
                <a:latin typeface="Consolas"/>
              </a:rPr>
              <a:t>23/49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ELÉTRICA BÁSICA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24/49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Três fórmulas resolvem quase tudo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PC de 400 W, 4 h por dia, 30 dias = 48 kWh ≈ R$ 48 por mês (a R$ 1,00/kWh). Tomada brasileira: 127 V ou 220 V, padrão NBR 14136.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730500"/>
            <a:ext cx="3437466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921000"/>
            <a:ext cx="34374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12"/>
              </a:spcAft>
            </a:pPr>
            <a:r>
              <a:rPr sz="4800" b="0">
                <a:solidFill>
                  <a:srgbClr val="16181C"/>
                </a:solidFill>
                <a:latin typeface="Segoe UI Black"/>
              </a:rPr>
              <a:t>V = R × I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Lei de Ohm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7266" y="2730500"/>
            <a:ext cx="3437466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7266" y="2921000"/>
            <a:ext cx="34374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12"/>
              </a:spcAft>
            </a:pPr>
            <a:r>
              <a:rPr sz="4800" b="0">
                <a:solidFill>
                  <a:srgbClr val="16181C"/>
                </a:solidFill>
                <a:latin typeface="Segoe UI Black"/>
              </a:rPr>
              <a:t>P = V × I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Potência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2533" y="2730500"/>
            <a:ext cx="3437466" cy="381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2533" y="2921000"/>
            <a:ext cx="3437466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112"/>
              </a:spcAft>
            </a:pPr>
            <a:r>
              <a:rPr sz="4800" b="0">
                <a:solidFill>
                  <a:srgbClr val="16181C"/>
                </a:solidFill>
                <a:latin typeface="Segoe UI Black"/>
              </a:rPr>
              <a:t>kWh = kW × h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Energia na conta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ESTÁTICA E OXIDAÇÃO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25/49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O que fazer e o que nunca fazer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Faça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Pulseira antiestática no gabinete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Segure as peças pelas bordas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Contatos: borracha branca + isopropílico 99%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Nunca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Soprar contatos (a saliva oxida)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Abrir a fonte (≈ 400 V nos capacitores)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Álcool comum, lixa ou aspirador nas placas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35000"/>
            <a:ext cx="609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600"/>
              </a:spcAft>
            </a:pPr>
            <a:r>
              <a:rPr sz="15000" b="0">
                <a:solidFill>
                  <a:srgbClr val="B4531F"/>
                </a:solidFill>
                <a:latin typeface="Segoe UI Black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223000" cy="1143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2420"/>
              </a:spcAft>
            </a:pPr>
            <a:r>
              <a:rPr sz="5500" b="0">
                <a:solidFill>
                  <a:srgbClr val="F5F3EE"/>
                </a:solidFill>
                <a:latin typeface="Segoe UI Black"/>
              </a:rPr>
              <a:t>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5334000"/>
            <a:ext cx="609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Cada peça: o que é, como funciona, problemas e preço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F5F3EE"/>
                </a:solidFill>
                <a:latin typeface="Consolas"/>
              </a:rPr>
              <a:t>26/49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O MAPA DO 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27/49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Quatro pilares e quem os sustenta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71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Processar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CPU e GPU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O cérebro e o artista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Memorizar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RAM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A mesa de trabalho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56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07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Guardar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SSD e HD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O armário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1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Comunicar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E/S e rede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As mãos, os olhos e o carteiro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8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Conectar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Placa-mãe e cabos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O sistema nervoso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56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07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Sustentar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Fonte, cooler, gabinete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Coração, ventilador e casa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GABINETE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28/49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Gabinete não é "CPU"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O que faz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Abriga, protege e aterra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Organiza o fluxo de ar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Mid tower é o mais comum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Fluxo de ar certo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Entrada: frente e base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Saída: traseira e topo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Pressão positiva = menos poeira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PLACA-MÃE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29/49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O centro da compatibilidade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3556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3048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O que define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Soquete: AM5, AM4, LGA1851, LGA1700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Chipset: B650, X870, B860, Z890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Formato: ATX, Micro-ATX, Mini-ITX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68500"/>
            <a:ext cx="3556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6000" y="2197100"/>
            <a:ext cx="3048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Onboard × offboard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Onboard: integrado à placa ou à CPU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Offboard: placa separada no slot PCIe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Com GPU dedicada, ligue o cabo na GPU</a:t>
            </a:r>
          </a:p>
        </p:txBody>
      </p:sp>
      <p:pic>
        <p:nvPicPr>
          <p:cNvPr id="11" name="Picture 10" descr="asus-rog-strix-z390-f-gaming-motherboard-20201120-dsc6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0" y="1968500"/>
            <a:ext cx="2794000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30/49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Como ler o nome do processador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Desempenho ≈ clock × IPC × núcleos. Mais GHz não é sinônimo de mais rápido.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1968500"/>
          <a:ext cx="10668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3556000"/>
                <a:gridCol w="3556000"/>
              </a:tblGrid>
              <a:tr h="444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Sufixo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Significado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Exemplo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Intel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Overclock liberado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Core i5-14600K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Intel F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Sem vídeo integrado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Core i5-14400F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AMD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Clock mais 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Ryzen 5 9600X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AMD X3D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Cache 3D, ótimo para jogos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Ryzen 7 9800X3D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AMD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Vídeo integrado forte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Ryzen 5 8600G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REFRIGERAÇÃO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31/49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Dissipador e cooler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Dissipador (passivo)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Metal que retira o calor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Base e heatpipes de cobre, aletas de alumínio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Pasta térmica: um grão de ervilha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Cooler (ativo)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Ventoinha que move o ar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Air cooler × water cooler AIO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4 pinos PWM; veja a seta do sentido do 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MEMÓRIA 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32/49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A evolução dos DDRs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Gerações não são compatíveis (o chanfro muda). Use dois pentes (dual channel) e ative o XMP/EXPO.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1968500"/>
          <a:ext cx="10668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444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Geração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Ano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Tensão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Pinos (desktop)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Velocidade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DDR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2,5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200–400 MT/s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DDR2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2003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1,8 V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240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400–1.066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DDR3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1,5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800–2.133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DDR4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2014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1,2 V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288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1.600–3.200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DDR5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2020/21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1,1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4.800–8.000+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MEMÓRIAS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33/49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RAM × 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RAM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Volátil: esquece ao desligar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Programas abertos agora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16–32 GB recomendados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ROM (firmware)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Não volátil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BIOS/UEFI: acorda o PC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ROM → PROM → EPROM → EEPROM → flash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PLACA DE 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34/49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Milhares de núcleos em paralelo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Para que serve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Jogos, vídeo, 3D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Gerar imagens e rodar IA local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O fator decisivo para IA é a VRAM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Como escolher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NVIDIA RTX × AMD Radeon RX × Intel Arc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Confira o tamanho no gabinete e a fonte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RTX 5060 ≈ R$ 2.400 · RX 9060 XT 16 GB ≈ R$ 2.800–3.700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PLACA DE REDE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35/49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Cabo ou Wi-Fi?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Ethernet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Gigabit e 2,5 Gbps; cabo Cat5e ou Cat6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Ping menor e estável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Preso em 94 Mbps? Cabo ou porta de 100 Mbps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Wi-Fi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Wi-Fi 6, 6E e 7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2,4 GHz alcança mais; 5 e 6 GHz são mais rápidos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Endereço MAC: o "CPF" da placa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FONTE DE ALIMENTAÇÃO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36/49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A última peça para economizar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O que faz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Converte CA (127/220 V) em CC (12, 5, 3,3 V)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Protege: OVP, OCP, SCP, OTP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80 PLUS Gold ≈ 90% de eficiência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Como dimensionar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Some CPU + GPU + ≈ 75 W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Adicione 30–50% de margem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Ex.: Ryzen 5 7600 + RTX 5070 → 650 W Gold ATX 3.1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CABOS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37/49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Os cabos que você vai ligar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1968500"/>
          <a:ext cx="10668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3556000"/>
                <a:gridCol w="3556000"/>
              </a:tblGrid>
              <a:tr h="444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Cabo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Função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Atenção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ATX 24 pinos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Energia da placa-mãe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Trava até o fim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EPS 8 pinos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Energia da CPU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Não confunda com o PCIe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PCIe 6+2 / 12V-2x6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Energia da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Encaixe completo, sem dobrar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SATA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Dados e energia de HD/SSD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Cabo ruim gera erros CRC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HDMI 2.1 / DisplayPort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Vídeo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HDMI antigo limita os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USB-C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Dados, vídeo e carga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O formato não diz a velocidade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ARMAZENAMENTO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38/49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HD × SSD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Trocar HD por SSD é o upgrade que mais muda a sensação de velocidade. Nunca desfragmente o SSD.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1968500"/>
          <a:ext cx="10668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3556000"/>
                <a:gridCol w="3556000"/>
              </a:tblGrid>
              <a:tr h="444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 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HD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SSD NVMe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Tecnologia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Magnética, com partes móveis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Flash NAND, sem partes móveis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Tempo de acesso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5–15 ms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0,02–0,1 ms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80–280 MB/s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3.500–15.000 MB/s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Custo por TB (out/2026)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≈ R$ 280–360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≈ R$ 1.000–1.500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Melhor uso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Backup e arquivo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Sistema, programas e jogos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MERCADO · 28/10/2026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39/49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Preços de referência no Brasil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A demanda dos data centers de IA encareceu RAM e SSD em 2025–2026. Confira o preço do dia.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" y="1968500"/>
          <a:ext cx="10668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/>
                <a:gridCol w="5334000"/>
              </a:tblGrid>
              <a:tr h="444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Peça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F3EE"/>
                          </a:solidFill>
                          <a:latin typeface="Segoe UI"/>
                        </a:rPr>
                        <a:t>Menor preço à vista</a:t>
                      </a:r>
                    </a:p>
                  </a:txBody>
                  <a:tcPr>
                    <a:solidFill>
                      <a:srgbClr val="16181C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Ryzen 5 7600 · Core i5-14400F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≈ R$ 940 · R$ 980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Ryzen 7 9800X3D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≈ R$ 2.130–2.500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DDR5 16 GB 6000 · kit 2 × 16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≈ R$ 2.100 · R$ 3.950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RTX 5060 · RTX 5070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≈ R$ 2.400 · R$ 5.100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SSD NVMe 1 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≈ R$ 1.150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181C"/>
                          </a:solidFill>
                          <a:latin typeface="Segoe UI"/>
                        </a:rPr>
                        <a:t>Fonte 750 W Gold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81C"/>
                          </a:solidFill>
                          <a:latin typeface="Segoe UI"/>
                        </a:rPr>
                        <a:t>a partir de ≈ R$ 340–390</a:t>
                      </a:r>
                    </a:p>
                  </a:txBody>
                  <a:tcPr>
                    <a:solidFill>
                      <a:srgbClr val="FAF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35000"/>
            <a:ext cx="609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600"/>
              </a:spcAft>
            </a:pPr>
            <a:r>
              <a:rPr sz="15000" b="0">
                <a:solidFill>
                  <a:srgbClr val="B4531F"/>
                </a:solidFill>
                <a:latin typeface="Segoe UI Black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223000" cy="1143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2420"/>
              </a:spcAft>
            </a:pPr>
            <a:r>
              <a:rPr sz="5500" b="0">
                <a:solidFill>
                  <a:srgbClr val="F5F3EE"/>
                </a:solidFill>
                <a:latin typeface="Segoe UI Black"/>
              </a:rPr>
              <a:t>Na prática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5334000"/>
            <a:ext cx="609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Compatibilidade, montagem e manutenção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F5F3EE"/>
                </a:solidFill>
                <a:latin typeface="Consolas"/>
              </a:rPr>
              <a:t>40/49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COMPATIBILIDADE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41/49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A ordem certa de escolha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10160000" cy="571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594"/>
              </a:spcAft>
            </a:pPr>
            <a:r>
              <a:rPr sz="1350" b="0">
                <a:solidFill>
                  <a:srgbClr val="4A4F57"/>
                </a:solidFill>
                <a:latin typeface="Segoe UI"/>
              </a:rPr>
              <a:t>Confira no PCPartPicker e na CPU Support List da placa-mãe.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222500"/>
            <a:ext cx="35560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01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16181C"/>
                </a:solidFill>
                <a:latin typeface="Segoe UI Black"/>
              </a:rPr>
              <a:t>CPU + placa-mãe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4A4F57"/>
                </a:solidFill>
                <a:latin typeface="Segoe UI"/>
              </a:rPr>
              <a:t>Soquete, chipset e BIOS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8000" y="2222500"/>
            <a:ext cx="3556000" cy="2413000"/>
          </a:xfrm>
          <a:prstGeom prst="rect">
            <a:avLst/>
          </a:prstGeom>
          <a:solidFill>
            <a:srgbClr val="16181C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02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F5F3EE"/>
                </a:solidFill>
                <a:latin typeface="Segoe UI Black"/>
              </a:rPr>
              <a:t>RAM, GPU e SSD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CFCBC2"/>
                </a:solidFill>
                <a:latin typeface="Segoe UI"/>
              </a:rPr>
              <a:t>DDR, tamanho e tipo de M.2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74000" y="2222500"/>
            <a:ext cx="3556000" cy="241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6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2476500"/>
            <a:ext cx="29972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16"/>
              </a:spcAft>
            </a:pPr>
            <a:r>
              <a:rPr sz="1400" b="1">
                <a:solidFill>
                  <a:srgbClr val="B4531F"/>
                </a:solidFill>
                <a:latin typeface="Consolas"/>
              </a:rPr>
              <a:t>03</a:t>
            </a:r>
          </a:p>
          <a:p>
            <a:pPr>
              <a:spcAft>
                <a:spcPts val="1320"/>
              </a:spcAft>
            </a:pPr>
            <a:r>
              <a:rPr sz="3000" b="0">
                <a:solidFill>
                  <a:srgbClr val="16181C"/>
                </a:solidFill>
                <a:latin typeface="Segoe UI Black"/>
              </a:rPr>
              <a:t>Fonte, cooler, gabinete</a:t>
            </a:r>
          </a:p>
          <a:p>
            <a:pPr>
              <a:spcAft>
                <a:spcPts val="726"/>
              </a:spcAft>
            </a:pPr>
            <a:r>
              <a:rPr sz="1650" b="0">
                <a:solidFill>
                  <a:srgbClr val="4A4F57"/>
                </a:solidFill>
                <a:latin typeface="Segoe UI"/>
              </a:rPr>
              <a:t>Potência, altura e espaço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MANUTENÇÃO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42/49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Antes, depois e pelos indicadores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34544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7100" y="2108200"/>
            <a:ext cx="312420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Preventiva</a:t>
            </a:r>
          </a:p>
          <a:p>
            <a:pPr>
              <a:spcAft>
                <a:spcPts val="1232"/>
              </a:spcAft>
            </a:pPr>
            <a:r>
              <a:rPr sz="2800" b="0">
                <a:solidFill>
                  <a:srgbClr val="16181C"/>
                </a:solidFill>
                <a:latin typeface="Segoe UI Black"/>
              </a:rPr>
              <a:t>Antes do problema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4A4F57"/>
                </a:solidFill>
                <a:latin typeface="Segoe UI"/>
              </a:rPr>
              <a:t>Limpeza a cada 3–6 meses, pasta térmica, atualizações, backup 3-2-1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1968500"/>
            <a:ext cx="34544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2108200"/>
            <a:ext cx="312420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Corretiva</a:t>
            </a:r>
          </a:p>
          <a:p>
            <a:pPr>
              <a:spcAft>
                <a:spcPts val="1232"/>
              </a:spcAft>
            </a:pPr>
            <a:r>
              <a:rPr sz="2800" b="0">
                <a:solidFill>
                  <a:srgbClr val="16181C"/>
                </a:solidFill>
                <a:latin typeface="Segoe UI Black"/>
              </a:rPr>
              <a:t>Depois do problema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4A4F57"/>
                </a:solidFill>
                <a:latin typeface="Segoe UI"/>
              </a:rPr>
              <a:t>Diagnosticar do simples para o complexo, trocando uma coisa por vez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5600" y="1968500"/>
            <a:ext cx="34544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0700" y="2108200"/>
            <a:ext cx="312420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Preditiva</a:t>
            </a:r>
          </a:p>
          <a:p>
            <a:pPr>
              <a:spcAft>
                <a:spcPts val="1232"/>
              </a:spcAft>
            </a:pPr>
            <a:r>
              <a:rPr sz="2800" b="0">
                <a:solidFill>
                  <a:srgbClr val="16181C"/>
                </a:solidFill>
                <a:latin typeface="Segoe UI Black"/>
              </a:rPr>
              <a:t>Pelos indicadores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4A4F57"/>
                </a:solidFill>
                <a:latin typeface="Segoe UI"/>
              </a:rPr>
              <a:t>SMART em "Cuidado", temperatura subindo: aja antes da falha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NOTEBOOKS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43/49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Portátil: o que muda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Por dentro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CPU e GPU soldadas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Upgrade: SSD e RAM (se for SO-DIMM)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A mesma GPU "Laptop" varia com o TGP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Bateria de lítio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Compare em Wh, não em mAh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Faixa ideal de 20–80%, longe do calor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Bateria estufada: pare de usar na hora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35000"/>
            <a:ext cx="609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600"/>
              </a:spcAft>
            </a:pPr>
            <a:r>
              <a:rPr sz="15000" b="0">
                <a:solidFill>
                  <a:srgbClr val="B4531F"/>
                </a:solidFill>
                <a:latin typeface="Segoe UI Black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223000" cy="1143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2420"/>
              </a:spcAft>
            </a:pPr>
            <a:r>
              <a:rPr sz="5500" b="0">
                <a:solidFill>
                  <a:srgbClr val="F5F3EE"/>
                </a:solidFill>
                <a:latin typeface="Segoe UI Black"/>
              </a:rPr>
              <a:t>Fronteira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5334000"/>
            <a:ext cx="609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Computação quântica e inteligência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F5F3EE"/>
                </a:solidFill>
                <a:latin typeface="Consolas"/>
              </a:rPr>
              <a:t>44/49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COMPUTAÇÃO QUÂNTICA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45/49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Uma moeda girando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Como funciona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Qubit: superposição de 0 e 1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Emaranhamento e interferência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Operação perto do zero absoluto (≈ 10 mK)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Onde está em 2026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Willow (2024): erros abaixo do limiar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Quantum Echoes (2025), Nobel 2025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Serve para química e criptografia, não para o seu PC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IA 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46/49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Por que a GPU virou o motor da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0F5A43"/>
                </a:solidFill>
                <a:latin typeface="Segoe UI Black"/>
              </a:rPr>
              <a:t>A razão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16181C"/>
                </a:solidFill>
                <a:latin typeface="Segoe UI"/>
              </a:rPr>
              <a:t>Redes neurais = multiplicação de matrizes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Milhares de núcleos + Tensor Cores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4A4F57"/>
                </a:solidFill>
                <a:latin typeface="Segoe UI"/>
              </a:rPr>
              <a:t>▪  HBM, TPUs e NPUs (Copilot+ ≥ 40 TOPS)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968500"/>
            <a:ext cx="5207000" cy="4127500"/>
          </a:xfrm>
          <a:prstGeom prst="roundRect">
            <a:avLst>
              <a:gd name="adj" fmla="val 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2197100"/>
            <a:ext cx="4699000" cy="374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32"/>
              </a:spcAft>
            </a:pPr>
            <a:r>
              <a:rPr sz="2800" b="0">
                <a:solidFill>
                  <a:srgbClr val="E58A52"/>
                </a:solidFill>
                <a:latin typeface="Segoe UI Black"/>
              </a:rPr>
              <a:t>O efeito no seu bolso</a:t>
            </a:r>
          </a:p>
          <a:p>
            <a:pPr>
              <a:spcAft>
                <a:spcPts val="748"/>
              </a:spcAft>
            </a:pPr>
            <a:r>
              <a:rPr sz="1700" b="1">
                <a:solidFill>
                  <a:srgbClr val="F5F3EE"/>
                </a:solidFill>
                <a:latin typeface="Segoe UI"/>
              </a:rPr>
              <a:t>Fábricas desviaram produção para HBM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TrendForce: DRAM +58–63% no 2º tri de 2026</a:t>
            </a:r>
          </a:p>
          <a:p>
            <a:pPr>
              <a:spcAft>
                <a:spcPts val="682"/>
              </a:spcAft>
            </a:pPr>
            <a:r>
              <a:rPr sz="1550" b="0">
                <a:solidFill>
                  <a:srgbClr val="CFCBC2"/>
                </a:solidFill>
                <a:latin typeface="Segoe UI"/>
              </a:rPr>
              <a:t>▪  Planeje a RAM: 16 GB ok, 32 GB ideal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47/49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Dez frases para nunca esquecer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7100" y="210820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1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Gabinete não é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850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1180" y="210820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2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A fonte é a última peça para economizar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0160" y="196850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5260" y="210820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3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Cabo de vídeo vai na placa de vídeo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4240" y="196850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9340" y="210820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4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Dois pentes são melhores que 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96850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3420" y="210820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5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Ative o XMP/EXPO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10845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100" y="424815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6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SSD muda a sensação de velocidade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10845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1180" y="424815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7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Mbps ÷ 8 = MB/s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0160" y="410845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5260" y="424815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8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1 TB = 931 GB, e não falta nada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54240" y="410845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9340" y="424815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9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Não sopre, não abra a fonte, use a pulseira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4108450"/>
            <a:ext cx="201168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3420" y="4248150"/>
            <a:ext cx="168148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68"/>
              </a:spcAft>
            </a:pPr>
            <a:r>
              <a:rPr sz="2200" b="1">
                <a:solidFill>
                  <a:srgbClr val="B4531F"/>
                </a:solidFill>
                <a:latin typeface="Segoe UI Black"/>
              </a:rPr>
              <a:t>10</a:t>
            </a:r>
          </a:p>
          <a:p>
            <a:pPr>
              <a:spcAft>
                <a:spcPts val="748"/>
              </a:spcAft>
            </a:pPr>
            <a:r>
              <a:rPr sz="1700" b="0">
                <a:solidFill>
                  <a:srgbClr val="16181C"/>
                </a:solidFill>
                <a:latin typeface="Segoe UI Black"/>
              </a:rPr>
              <a:t>Backup 3-2-1: todo disco falha um dia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84"/>
              </a:spcAft>
            </a:pPr>
            <a:r>
              <a:rPr sz="1100" b="1">
                <a:solidFill>
                  <a:srgbClr val="B4531F"/>
                </a:solidFill>
                <a:latin typeface="Consolas"/>
              </a:rPr>
              <a:t>PARA CRIANÇAS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0" y="381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8A8F97"/>
                </a:solidFill>
                <a:latin typeface="Consolas"/>
              </a:rPr>
              <a:t>MASTERCLASS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0" y="6413500"/>
            <a:ext cx="190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84"/>
              </a:spcAft>
            </a:pPr>
            <a:r>
              <a:rPr sz="1100" b="1">
                <a:solidFill>
                  <a:srgbClr val="16181C"/>
                </a:solidFill>
                <a:latin typeface="Consolas"/>
              </a:rPr>
              <a:t>48/49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25500"/>
            <a:ext cx="10160000" cy="762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>
              <a:spcAft>
                <a:spcPts val="1672"/>
              </a:spcAft>
            </a:pPr>
            <a:r>
              <a:rPr sz="3800" b="0">
                <a:solidFill>
                  <a:srgbClr val="16181C"/>
                </a:solidFill>
                <a:latin typeface="Segoe UI Black"/>
              </a:rPr>
              <a:t>O corpo do computador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663700"/>
            <a:ext cx="10668000" cy="31750"/>
          </a:xfrm>
          <a:prstGeom prst="rect">
            <a:avLst/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71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Cérebro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Processador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Pensa e faz contas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Mesa de trabalho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Memória RAM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Esquece tudo quando desliga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5600" y="196850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0700" y="210820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Armário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SSD e HD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Guarda para sempre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1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Artista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Placa de vídeo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Desenha a tela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8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Coração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Fonte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Dá energia para todos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5600" y="4108450"/>
            <a:ext cx="3454400" cy="1987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0700" y="4248150"/>
            <a:ext cx="3124200" cy="1733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1">
                <a:solidFill>
                  <a:srgbClr val="B4531F"/>
                </a:solidFill>
                <a:latin typeface="Consolas"/>
              </a:rPr>
              <a:t>Ventilador</a:t>
            </a:r>
          </a:p>
          <a:p>
            <a:pPr>
              <a:spcAft>
                <a:spcPts val="880"/>
              </a:spcAft>
            </a:pPr>
            <a:r>
              <a:rPr sz="2000" b="0">
                <a:solidFill>
                  <a:srgbClr val="16181C"/>
                </a:solidFill>
                <a:latin typeface="Segoe UI Black"/>
              </a:rPr>
              <a:t>Cooler</a:t>
            </a:r>
          </a:p>
          <a:p>
            <a:pPr>
              <a:spcAft>
                <a:spcPts val="616"/>
              </a:spcAft>
            </a:pPr>
            <a:r>
              <a:rPr sz="1400" b="0">
                <a:solidFill>
                  <a:srgbClr val="4A4F57"/>
                </a:solidFill>
                <a:latin typeface="Segoe UI"/>
              </a:rPr>
              <a:t>Tira a "febre" do PC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14000" y="0"/>
            <a:ext cx="38100" cy="6858000"/>
          </a:xfrm>
          <a:prstGeom prst="rect">
            <a:avLst/>
          </a:prstGeom>
          <a:solidFill>
            <a:srgbClr val="B4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1905000"/>
            <a:ext cx="6223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960"/>
              </a:spcAft>
            </a:pPr>
            <a:r>
              <a:rPr sz="9000" b="0">
                <a:solidFill>
                  <a:srgbClr val="F5F3EE"/>
                </a:solidFill>
                <a:latin typeface="Segoe UI Black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3810000"/>
            <a:ext cx="571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92"/>
              </a:spcAft>
            </a:pPr>
            <a:r>
              <a:rPr sz="1800" b="0">
                <a:solidFill>
                  <a:srgbClr val="CFCBC2"/>
                </a:solidFill>
                <a:latin typeface="Segoe UI"/>
              </a:rPr>
              <a:t>Masterclass de Hardware · Outubro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4572000"/>
            <a:ext cx="571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72"/>
              </a:spcAft>
            </a:pPr>
            <a:r>
              <a:rPr sz="1300" b="0">
                <a:solidFill>
                  <a:srgbClr val="9A9EA6"/>
                </a:solidFill>
                <a:latin typeface="Segoe UI"/>
              </a:rPr>
              <a:t>Material completo: HTML interativo, apostila em PDF, documento Word e esta apresentação.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